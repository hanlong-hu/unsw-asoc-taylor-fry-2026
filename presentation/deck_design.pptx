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f33a26a-a983-094d-17bd-e66cdd58de12}">
          <p14:sldIdLst>
            <p14:sldId id="256"/>
            <p14:sldId id="257"/>
            <p14:sldId id="258"/>
          </p14:sldIdLst>
        </p14:section>
        <p14:section name="Task 1: Forecast" id="{1bfce69b-cb3f-f019-ec70-547c79a7bd65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Task 2: Allocation" id="{c32f9ece-7da7-4c25-dbc3-63f263a659dd}">
          <p14:sldIdLst>
            <p14:sldId id="267"/>
            <p14:sldId id="268"/>
            <p14:sldId id="269"/>
            <p14:sldId id="270"/>
            <p14:sldId id="271"/>
          </p14:sldIdLst>
        </p14:section>
        <p14:section name="Close" id="{19a28b77-0756-a63a-bb44-e87b02b1abb2}">
          <p14:sldIdLst>
            <p14:sldId id="272"/>
            <p14:sldId id="273"/>
          </p14:sldIdLst>
        </p14:section>
        <p14:section name="Appendix" id="{b6cf51b0-a8c2-1a9a-33a6-dcc97c2d42d5}">
          <p14:sldIdLst>
            <p14:sldId id="274"/>
            <p14:sldId id="275"/>
            <p14:sldId id="276"/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Title. Design suggestions: presentation/slide_design_notes.md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Executive summary. Design suggestions: presentation/slide_design_notes.md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3: The brief. Design suggestions: presentation/slide_design_notes.md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4: Task 1 divider. Design suggestions: presentation/slide_design_notes.md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5: From raw data to beach-months. Design suggestions: presentation/slide_design_notes.md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6: Summer crowds, winter risk. Design suggestions: presentation/slide_design_notes.md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7: How the model works. Design suggestions: presentation/slide_design_notes.md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8: Model chosen on unseen years. Design suggestions: presentation/slide_design_notes.md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9: FY2027 forecast by severity. Design suggestions: presentation/slide_design_notes.md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10: Where and when. Design suggestions: presentation/slide_design_notes.md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11: What drives severe incidents. Design suggestions: presentation/slide_design_notes.md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12: Task 2 divider. Design suggestions: presentation/slide_design_notes.md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13: Recommendation: the $2M allocation. Design suggestions: presentation/slide_design_notes.md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14: How we chose the allocation. Design suggestions: presentation/slide_design_notes.md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15: Why this, not the alternatives. Design suggestions: presentation/slide_design_notes.md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16: Implementation. Design suggestions: presentation/slide_design_notes.md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17: Assumptions and limitations. Design suggestions: presentation/slide_design_notes.md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18: Conclusion. Design suggestions: presentation/slide_design_notes.md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19: Appendix divider. Design suggestions: presentation/slide_design_notes.md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20: A1 Model specification. Design suggestions: presentation/slide_design_notes.md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21: A2 Validation detail. Design suggestions: presentation/slide_design_notes.md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22: A3 Forecast uncertainty. Design suggestions: presentation/slide_design_notes.md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23: A4 Optimisation formulation. Design suggestions: presentation/slide_design_notes.md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24: A5 Pricing inputs. Design suggestions: presentation/slide_design_notes.md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(dark)">
    <p:bg>
      <p:bgPr>
        <a:solidFill>
          <a:srgbClr val="0A3D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486400"/>
            <a:ext cx="12191695" cy="13716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554480"/>
            <a:ext cx="868680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Presentation title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37560"/>
            <a:ext cx="86868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Subtitle: the recommendation in one line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4206240"/>
            <a:ext cx="86868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Team name · member names · date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 (dark)">
    <p:bg>
      <p:bgPr>
        <a:solidFill>
          <a:srgbClr val="0A3D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486400"/>
            <a:ext cx="12191695" cy="1371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48840"/>
            <a:ext cx="1188720" cy="1188720"/>
          </a:xfrm>
          <a:prstGeom prst="ellipse">
            <a:avLst/>
          </a:prstGeom>
          <a:solidFill>
            <a:srgbClr val="E9C46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31520" y="2148840"/>
            <a:ext cx="1188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2286000" y="2057400"/>
            <a:ext cx="82296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Section title</a:t>
            </a:r>
            <a:endParaRPr lang="en-US" sz="4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2286000" y="2971800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The question this section answers</a:t>
            </a:r>
            <a:endParaRPr lang="en-US" sz="1800" dirty="0"/>
          </a:p>
        </p:txBody>
      </p:sp>
      <p:sp>
        <p:nvSpPr>
          <p:cNvPr id="7" name="Text 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UNSW ASOC x Taylor Fry Case Competition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9C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E9C46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411480"/>
            <a:ext cx="237744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spc="150" kern="0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100" b="1" spc="150" kern="0" dirty="0">
                <a:solidFill>
                  <a:schemeClr val="tx2"/>
                </a:solidFill>
              </a:rPr>
              <a:t>SECTION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Action title: the one message of this slide</a:t>
            </a:r>
            <a:endParaRPr lang="en-US" sz="3200" dirty="0"/>
          </a:p>
        </p:txBody>
      </p:sp>
      <p:sp>
        <p:nvSpPr>
          <p:cNvPr id="5" name="Text 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UNSW ASOC x Taylor Fry Case Competition 2026</a:t>
            </a:r>
            <a:endParaRPr lang="en-US" sz="1000" dirty="0"/>
          </a:p>
        </p:txBody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548640" y="1874520"/>
            <a:ext cx="11094415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Free canvas: build cards, diagrams or tables here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rt + takeawa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E9C46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411480"/>
            <a:ext cx="237744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spc="150" kern="0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100" b="1" spc="150" kern="0" dirty="0">
                <a:solidFill>
                  <a:schemeClr val="tx2"/>
                </a:solidFill>
              </a:rPr>
              <a:t>SECTION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Action title: the one message of this slide</a:t>
            </a:r>
            <a:endParaRPr lang="en-US" sz="3200" dirty="0"/>
          </a:p>
        </p:txBody>
      </p:sp>
      <p:sp>
        <p:nvSpPr>
          <p:cNvPr id="5" name="Text 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UNSW ASOC x Taylor Fry Case Competition 2026</a:t>
            </a:r>
            <a:endParaRPr lang="en-US" sz="1000" dirty="0"/>
          </a:p>
        </p:txBody>
      </p:sp>
      <p:sp>
        <p:nvSpPr>
          <p:cNvPr id="6" name="Text 2"/>
          <p:cNvSpPr/>
          <p:nvPr>
            <p:ph idx="104" hasCustomPrompt="1"/>
          </p:nvPr>
        </p:nvSpPr>
        <p:spPr>
          <a:xfrm>
            <a:off x="548640" y="1874520"/>
            <a:ext cx="722376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dirty="0">
                <a:solidFill>
                  <a:schemeClr val="tx1"/>
                </a:solidFill>
              </a:rPr>
              <a:t>Insert chart (paste or picture)</a:t>
            </a:r>
            <a:endParaRPr lang="en-US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548640" y="5806440"/>
            <a:ext cx="722376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i="1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 / note</a:t>
            </a:r>
            <a:endParaRPr lang="en-US" sz="1000" dirty="0"/>
          </a:p>
        </p:txBody>
      </p:sp>
      <p:sp>
        <p:nvSpPr>
          <p:cNvPr id="8" name="Text 2"/>
          <p:cNvSpPr/>
          <p:nvPr/>
        </p:nvSpPr>
        <p:spPr>
          <a:xfrm>
            <a:off x="8092440" y="1874520"/>
            <a:ext cx="3550615" cy="4206240"/>
          </a:xfrm>
          <a:prstGeom prst="roundRect">
            <a:avLst>
              <a:gd name="adj" fmla="val 3090"/>
            </a:avLst>
          </a:prstGeom>
          <a:solidFill>
            <a:srgbClr val="EAF1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8366760" y="2148840"/>
            <a:ext cx="300197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</a:t>
            </a:r>
            <a:endParaRPr lang="en-US" sz="20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8366760" y="3108960"/>
            <a:ext cx="3001975" cy="2697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800"/>
              </a:spcAft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l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Two or three short supporting points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 stat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E9C46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411480"/>
            <a:ext cx="237744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spc="150" kern="0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100" b="1" spc="150" kern="0" dirty="0">
                <a:solidFill>
                  <a:schemeClr val="tx2"/>
                </a:solidFill>
              </a:rPr>
              <a:t>SECTION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Action title: the one message of this slide</a:t>
            </a:r>
            <a:endParaRPr lang="en-US" sz="3200" dirty="0"/>
          </a:p>
        </p:txBody>
      </p:sp>
      <p:sp>
        <p:nvSpPr>
          <p:cNvPr id="5" name="Text 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UNSW ASOC x Taylor Fry Case Competition 2026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548640" y="1874520"/>
            <a:ext cx="3484778" cy="2514600"/>
          </a:xfrm>
          <a:prstGeom prst="roundRect">
            <a:avLst>
              <a:gd name="adj" fmla="val 4364"/>
            </a:avLst>
          </a:prstGeom>
          <a:solidFill>
            <a:srgbClr val="EAF1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3"/>
          <p:cNvSpPr/>
          <p:nvPr>
            <p:ph idx="105" type="body" hasCustomPrompt="1"/>
          </p:nvPr>
        </p:nvSpPr>
        <p:spPr>
          <a:xfrm>
            <a:off x="822960" y="2148840"/>
            <a:ext cx="2936138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00</a:t>
            </a:r>
            <a:endParaRPr lang="en-US" sz="5400" dirty="0"/>
          </a:p>
        </p:txBody>
      </p:sp>
      <p:sp>
        <p:nvSpPr>
          <p:cNvPr id="8" name="Text 3"/>
          <p:cNvSpPr/>
          <p:nvPr>
            <p:ph idx="106" type="body" hasCustomPrompt="1"/>
          </p:nvPr>
        </p:nvSpPr>
        <p:spPr>
          <a:xfrm>
            <a:off x="822960" y="3337560"/>
            <a:ext cx="2936138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What the number means</a:t>
            </a:r>
            <a:endParaRPr lang="en-US" sz="1500" dirty="0"/>
          </a:p>
        </p:txBody>
      </p:sp>
      <p:sp>
        <p:nvSpPr>
          <p:cNvPr id="9" name="Text 3"/>
          <p:cNvSpPr/>
          <p:nvPr/>
        </p:nvSpPr>
        <p:spPr>
          <a:xfrm>
            <a:off x="4353458" y="1874520"/>
            <a:ext cx="3484778" cy="2514600"/>
          </a:xfrm>
          <a:prstGeom prst="roundRect">
            <a:avLst>
              <a:gd name="adj" fmla="val 4364"/>
            </a:avLst>
          </a:prstGeom>
          <a:solidFill>
            <a:srgbClr val="EAF1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4627778" y="2148840"/>
            <a:ext cx="2936138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00</a:t>
            </a:r>
            <a:endParaRPr lang="en-US" sz="54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4627778" y="3337560"/>
            <a:ext cx="2936138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What the number means</a:t>
            </a:r>
            <a:endParaRPr lang="en-US" sz="1500" dirty="0"/>
          </a:p>
        </p:txBody>
      </p:sp>
      <p:sp>
        <p:nvSpPr>
          <p:cNvPr id="12" name="Text 4"/>
          <p:cNvSpPr/>
          <p:nvPr/>
        </p:nvSpPr>
        <p:spPr>
          <a:xfrm>
            <a:off x="8158277" y="1874520"/>
            <a:ext cx="3484778" cy="2514600"/>
          </a:xfrm>
          <a:prstGeom prst="roundRect">
            <a:avLst>
              <a:gd name="adj" fmla="val 4364"/>
            </a:avLst>
          </a:prstGeom>
          <a:solidFill>
            <a:srgbClr val="EAF1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432597" y="2148840"/>
            <a:ext cx="2936138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00</a:t>
            </a:r>
            <a:endParaRPr lang="en-US" sz="5400" dirty="0"/>
          </a:p>
        </p:txBody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8432597" y="3337560"/>
            <a:ext cx="2936138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What the number means</a:t>
            </a:r>
            <a:endParaRPr lang="en-US" sz="1500" dirty="0"/>
          </a:p>
        </p:txBody>
      </p:sp>
      <p:sp>
        <p:nvSpPr>
          <p:cNvPr id="15" name="Text 5"/>
          <p:cNvSpPr/>
          <p:nvPr/>
        </p:nvSpPr>
        <p:spPr>
          <a:xfrm>
            <a:off x="548640" y="4709160"/>
            <a:ext cx="11094415" cy="1371600"/>
          </a:xfrm>
          <a:prstGeom prst="roundRect">
            <a:avLst>
              <a:gd name="adj" fmla="val 8000"/>
            </a:avLst>
          </a:prstGeom>
          <a:solidFill>
            <a:srgbClr val="FBF3D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6"/>
          <p:cNvSpPr/>
          <p:nvPr>
            <p:ph idx="114" type="body" hasCustomPrompt="1"/>
          </p:nvPr>
        </p:nvSpPr>
        <p:spPr>
          <a:xfrm>
            <a:off x="822960" y="4846320"/>
            <a:ext cx="1054577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So what: what this means for the government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E9C46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411480"/>
            <a:ext cx="237744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spc="150" kern="0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100" b="1" spc="150" kern="0" dirty="0">
                <a:solidFill>
                  <a:schemeClr val="tx2"/>
                </a:solidFill>
              </a:rPr>
              <a:t>SECTION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Action title: the one message of this slide</a:t>
            </a:r>
            <a:endParaRPr lang="en-US" sz="3200" dirty="0"/>
          </a:p>
        </p:txBody>
      </p:sp>
      <p:sp>
        <p:nvSpPr>
          <p:cNvPr id="5" name="Text 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UNSW ASOC x Taylor Fry Case Competition 2026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548640" y="1874520"/>
            <a:ext cx="5364328" cy="4206240"/>
          </a:xfrm>
          <a:prstGeom prst="roundRect">
            <a:avLst>
              <a:gd name="adj" fmla="val 2609"/>
            </a:avLst>
          </a:prstGeom>
          <a:solidFill>
            <a:srgbClr val="EAF1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3"/>
          <p:cNvSpPr/>
          <p:nvPr/>
        </p:nvSpPr>
        <p:spPr>
          <a:xfrm>
            <a:off x="822960" y="2148840"/>
            <a:ext cx="457200" cy="457200"/>
          </a:xfrm>
          <a:prstGeom prst="ellipse">
            <a:avLst/>
          </a:prstGeom>
          <a:solidFill>
            <a:srgbClr val="E9C46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4"/>
          <p:cNvSpPr/>
          <p:nvPr>
            <p:ph idx="106" type="body" hasCustomPrompt="1"/>
          </p:nvPr>
        </p:nvSpPr>
        <p:spPr>
          <a:xfrm>
            <a:off x="1417320" y="2148840"/>
            <a:ext cx="4221328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Column heading</a:t>
            </a:r>
            <a:endParaRPr lang="en-US" sz="2000" dirty="0"/>
          </a:p>
        </p:txBody>
      </p:sp>
      <p:sp>
        <p:nvSpPr>
          <p:cNvPr id="9" name="Text 4"/>
          <p:cNvSpPr/>
          <p:nvPr>
            <p:ph idx="107" type="body" hasCustomPrompt="1"/>
          </p:nvPr>
        </p:nvSpPr>
        <p:spPr>
          <a:xfrm>
            <a:off x="822960" y="2834640"/>
            <a:ext cx="4815688" cy="2971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800"/>
              </a:spcAft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l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Points for this column</a:t>
            </a:r>
            <a:endParaRPr lang="en-US" sz="1500" dirty="0"/>
          </a:p>
        </p:txBody>
      </p:sp>
      <p:sp>
        <p:nvSpPr>
          <p:cNvPr id="10" name="Text 4"/>
          <p:cNvSpPr/>
          <p:nvPr/>
        </p:nvSpPr>
        <p:spPr>
          <a:xfrm>
            <a:off x="6278728" y="1874520"/>
            <a:ext cx="5364328" cy="4206240"/>
          </a:xfrm>
          <a:prstGeom prst="roundRect">
            <a:avLst>
              <a:gd name="adj" fmla="val 2609"/>
            </a:avLst>
          </a:prstGeom>
          <a:solidFill>
            <a:srgbClr val="EAF1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5"/>
          <p:cNvSpPr/>
          <p:nvPr/>
        </p:nvSpPr>
        <p:spPr>
          <a:xfrm>
            <a:off x="6553048" y="2148840"/>
            <a:ext cx="457200" cy="457200"/>
          </a:xfrm>
          <a:prstGeom prst="ellipse">
            <a:avLst/>
          </a:prstGeom>
          <a:solidFill>
            <a:srgbClr val="E9C46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6"/>
          <p:cNvSpPr/>
          <p:nvPr>
            <p:ph idx="110" type="body" hasCustomPrompt="1"/>
          </p:nvPr>
        </p:nvSpPr>
        <p:spPr>
          <a:xfrm>
            <a:off x="7147408" y="2148840"/>
            <a:ext cx="4221328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Column heading</a:t>
            </a:r>
            <a:endParaRPr lang="en-US" sz="20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6553048" y="2834640"/>
            <a:ext cx="4815688" cy="2971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800"/>
              </a:spcAft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l"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Points for this column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ur step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E9C46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411480"/>
            <a:ext cx="237744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spc="150" kern="0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100" b="1" spc="150" kern="0" dirty="0">
                <a:solidFill>
                  <a:schemeClr val="tx2"/>
                </a:solidFill>
              </a:rPr>
              <a:t>SECTION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Action title: the one message of this slide</a:t>
            </a:r>
            <a:endParaRPr lang="en-US" sz="3200" dirty="0"/>
          </a:p>
        </p:txBody>
      </p:sp>
      <p:sp>
        <p:nvSpPr>
          <p:cNvPr id="5" name="Text 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UNSW ASOC x Taylor Fry Case Competition 2026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548640" y="2286000"/>
            <a:ext cx="2533574" cy="3794760"/>
          </a:xfrm>
          <a:prstGeom prst="roundRect">
            <a:avLst>
              <a:gd name="adj" fmla="val 4331"/>
            </a:avLst>
          </a:prstGeom>
          <a:solidFill>
            <a:srgbClr val="EAF1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3"/>
          <p:cNvSpPr/>
          <p:nvPr/>
        </p:nvSpPr>
        <p:spPr>
          <a:xfrm>
            <a:off x="1403947" y="1874520"/>
            <a:ext cx="822960" cy="822960"/>
          </a:xfrm>
          <a:prstGeom prst="ellipse">
            <a:avLst/>
          </a:prstGeom>
          <a:solidFill>
            <a:srgbClr val="E9C46A"/>
          </a:solidFill>
          <a:ln w="38100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4"/>
          <p:cNvSpPr/>
          <p:nvPr/>
        </p:nvSpPr>
        <p:spPr>
          <a:xfrm>
            <a:off x="1403947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Text 5"/>
          <p:cNvSpPr/>
          <p:nvPr>
            <p:ph idx="107" type="body" hasCustomPrompt="1"/>
          </p:nvPr>
        </p:nvSpPr>
        <p:spPr>
          <a:xfrm>
            <a:off x="777240" y="2880360"/>
            <a:ext cx="2076374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heading</a:t>
            </a:r>
            <a:endParaRPr lang="en-US" sz="1800" dirty="0"/>
          </a:p>
        </p:txBody>
      </p:sp>
      <p:sp>
        <p:nvSpPr>
          <p:cNvPr id="10" name="Text 5"/>
          <p:cNvSpPr/>
          <p:nvPr>
            <p:ph idx="108" type="body" hasCustomPrompt="1"/>
          </p:nvPr>
        </p:nvSpPr>
        <p:spPr>
          <a:xfrm>
            <a:off x="777240" y="3703320"/>
            <a:ext cx="2076374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What happens in this step</a:t>
            </a:r>
            <a:endParaRPr lang="en-US" sz="1400" dirty="0"/>
          </a:p>
        </p:txBody>
      </p:sp>
      <p:sp>
        <p:nvSpPr>
          <p:cNvPr id="11" name="Text 5"/>
          <p:cNvSpPr/>
          <p:nvPr/>
        </p:nvSpPr>
        <p:spPr>
          <a:xfrm>
            <a:off x="3063926" y="4251960"/>
            <a:ext cx="356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4"/>
                </a:solidFill>
              </a:rPr>
              <a:t>›</a:t>
            </a:r>
            <a:endParaRPr lang="en-US" sz="3200" dirty="0"/>
          </a:p>
        </p:txBody>
      </p:sp>
      <p:sp>
        <p:nvSpPr>
          <p:cNvPr id="12" name="Text 6"/>
          <p:cNvSpPr/>
          <p:nvPr/>
        </p:nvSpPr>
        <p:spPr>
          <a:xfrm>
            <a:off x="3402254" y="2286000"/>
            <a:ext cx="2533574" cy="3794760"/>
          </a:xfrm>
          <a:prstGeom prst="roundRect">
            <a:avLst>
              <a:gd name="adj" fmla="val 4331"/>
            </a:avLst>
          </a:prstGeom>
          <a:solidFill>
            <a:srgbClr val="EAF1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7"/>
          <p:cNvSpPr/>
          <p:nvPr/>
        </p:nvSpPr>
        <p:spPr>
          <a:xfrm>
            <a:off x="4257561" y="1874520"/>
            <a:ext cx="822960" cy="822960"/>
          </a:xfrm>
          <a:prstGeom prst="ellipse">
            <a:avLst/>
          </a:prstGeom>
          <a:solidFill>
            <a:srgbClr val="E9C46A"/>
          </a:solidFill>
          <a:ln w="38100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8"/>
          <p:cNvSpPr/>
          <p:nvPr/>
        </p:nvSpPr>
        <p:spPr>
          <a:xfrm>
            <a:off x="4257561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Text 9"/>
          <p:cNvSpPr/>
          <p:nvPr>
            <p:ph idx="113" type="body" hasCustomPrompt="1"/>
          </p:nvPr>
        </p:nvSpPr>
        <p:spPr>
          <a:xfrm>
            <a:off x="3630854" y="2880360"/>
            <a:ext cx="2076374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heading</a:t>
            </a:r>
            <a:endParaRPr lang="en-US" sz="1800" dirty="0"/>
          </a:p>
        </p:txBody>
      </p:sp>
      <p:sp>
        <p:nvSpPr>
          <p:cNvPr id="16" name="Text 9"/>
          <p:cNvSpPr/>
          <p:nvPr>
            <p:ph idx="114" type="body" hasCustomPrompt="1"/>
          </p:nvPr>
        </p:nvSpPr>
        <p:spPr>
          <a:xfrm>
            <a:off x="3630854" y="3703320"/>
            <a:ext cx="2076374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What happens in this step</a:t>
            </a:r>
            <a:endParaRPr lang="en-US" sz="1400" dirty="0"/>
          </a:p>
        </p:txBody>
      </p:sp>
      <p:sp>
        <p:nvSpPr>
          <p:cNvPr id="17" name="Text 9"/>
          <p:cNvSpPr/>
          <p:nvPr/>
        </p:nvSpPr>
        <p:spPr>
          <a:xfrm>
            <a:off x="5917540" y="4251960"/>
            <a:ext cx="356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4"/>
                </a:solidFill>
              </a:rPr>
              <a:t>›</a:t>
            </a:r>
            <a:endParaRPr lang="en-US" sz="3200" dirty="0"/>
          </a:p>
        </p:txBody>
      </p:sp>
      <p:sp>
        <p:nvSpPr>
          <p:cNvPr id="18" name="Text 10"/>
          <p:cNvSpPr/>
          <p:nvPr/>
        </p:nvSpPr>
        <p:spPr>
          <a:xfrm>
            <a:off x="6255868" y="2286000"/>
            <a:ext cx="2533574" cy="3794760"/>
          </a:xfrm>
          <a:prstGeom prst="roundRect">
            <a:avLst>
              <a:gd name="adj" fmla="val 4331"/>
            </a:avLst>
          </a:prstGeom>
          <a:solidFill>
            <a:srgbClr val="EAF1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1"/>
          <p:cNvSpPr/>
          <p:nvPr/>
        </p:nvSpPr>
        <p:spPr>
          <a:xfrm>
            <a:off x="7111175" y="1874520"/>
            <a:ext cx="822960" cy="822960"/>
          </a:xfrm>
          <a:prstGeom prst="ellipse">
            <a:avLst/>
          </a:prstGeom>
          <a:solidFill>
            <a:srgbClr val="E9C46A"/>
          </a:solidFill>
          <a:ln w="38100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2"/>
          <p:cNvSpPr/>
          <p:nvPr/>
        </p:nvSpPr>
        <p:spPr>
          <a:xfrm>
            <a:off x="7111175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21" name="Text 13"/>
          <p:cNvSpPr/>
          <p:nvPr>
            <p:ph idx="119" type="body" hasCustomPrompt="1"/>
          </p:nvPr>
        </p:nvSpPr>
        <p:spPr>
          <a:xfrm>
            <a:off x="6484468" y="2880360"/>
            <a:ext cx="2076374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heading</a:t>
            </a:r>
            <a:endParaRPr lang="en-US" sz="1800" dirty="0"/>
          </a:p>
        </p:txBody>
      </p:sp>
      <p:sp>
        <p:nvSpPr>
          <p:cNvPr id="22" name="Text 13"/>
          <p:cNvSpPr/>
          <p:nvPr>
            <p:ph idx="120" type="body" hasCustomPrompt="1"/>
          </p:nvPr>
        </p:nvSpPr>
        <p:spPr>
          <a:xfrm>
            <a:off x="6484468" y="3703320"/>
            <a:ext cx="2076374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What happens in this step</a:t>
            </a:r>
            <a:endParaRPr lang="en-US" sz="1400" dirty="0"/>
          </a:p>
        </p:txBody>
      </p:sp>
      <p:sp>
        <p:nvSpPr>
          <p:cNvPr id="23" name="Text 13"/>
          <p:cNvSpPr/>
          <p:nvPr/>
        </p:nvSpPr>
        <p:spPr>
          <a:xfrm>
            <a:off x="8771153" y="4251960"/>
            <a:ext cx="356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4"/>
                </a:solidFill>
              </a:rPr>
              <a:t>›</a:t>
            </a:r>
            <a:endParaRPr lang="en-US" sz="3200" dirty="0"/>
          </a:p>
        </p:txBody>
      </p:sp>
      <p:sp>
        <p:nvSpPr>
          <p:cNvPr id="24" name="Text 14"/>
          <p:cNvSpPr/>
          <p:nvPr/>
        </p:nvSpPr>
        <p:spPr>
          <a:xfrm>
            <a:off x="9109481" y="2286000"/>
            <a:ext cx="2533574" cy="3794760"/>
          </a:xfrm>
          <a:prstGeom prst="roundRect">
            <a:avLst>
              <a:gd name="adj" fmla="val 4331"/>
            </a:avLst>
          </a:prstGeom>
          <a:solidFill>
            <a:srgbClr val="EAF1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15"/>
          <p:cNvSpPr/>
          <p:nvPr/>
        </p:nvSpPr>
        <p:spPr>
          <a:xfrm>
            <a:off x="9964788" y="1874520"/>
            <a:ext cx="822960" cy="822960"/>
          </a:xfrm>
          <a:prstGeom prst="ellipse">
            <a:avLst/>
          </a:prstGeom>
          <a:solidFill>
            <a:srgbClr val="E9C46A"/>
          </a:solidFill>
          <a:ln w="38100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16"/>
          <p:cNvSpPr/>
          <p:nvPr/>
        </p:nvSpPr>
        <p:spPr>
          <a:xfrm>
            <a:off x="9964788" y="1874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27" name="Text 17"/>
          <p:cNvSpPr/>
          <p:nvPr>
            <p:ph idx="125" type="body" hasCustomPrompt="1"/>
          </p:nvPr>
        </p:nvSpPr>
        <p:spPr>
          <a:xfrm>
            <a:off x="9338081" y="2880360"/>
            <a:ext cx="2076374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heading</a:t>
            </a:r>
            <a:endParaRPr lang="en-US" sz="1800" dirty="0"/>
          </a:p>
        </p:txBody>
      </p:sp>
      <p:sp>
        <p:nvSpPr>
          <p:cNvPr id="28" name="Text 17"/>
          <p:cNvSpPr/>
          <p:nvPr>
            <p:ph idx="126" type="body" hasCustomPrompt="1"/>
          </p:nvPr>
        </p:nvSpPr>
        <p:spPr>
          <a:xfrm>
            <a:off x="9338081" y="3703320"/>
            <a:ext cx="2076374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What happens in this step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E9C46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411480"/>
            <a:ext cx="237744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spc="150" kern="0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100" b="1" spc="150" kern="0" dirty="0">
                <a:solidFill>
                  <a:schemeClr val="tx2"/>
                </a:solidFill>
              </a:rPr>
              <a:t>SECTION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Action title: the one message of this slide</a:t>
            </a:r>
            <a:endParaRPr lang="en-US" sz="3200" dirty="0"/>
          </a:p>
        </p:txBody>
      </p:sp>
      <p:sp>
        <p:nvSpPr>
          <p:cNvPr id="5" name="Text 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UNSW ASOC x Taylor Fry Case Competition 2026</a:t>
            </a:r>
            <a:endParaRPr lang="en-US" sz="1000" dirty="0"/>
          </a:p>
        </p:txBody>
      </p:sp>
      <p:sp>
        <p:nvSpPr>
          <p:cNvPr id="6" name="Text 2"/>
          <p:cNvSpPr/>
          <p:nvPr>
            <p:ph idx="104" hasCustomPrompt="1"/>
          </p:nvPr>
        </p:nvSpPr>
        <p:spPr>
          <a:xfrm>
            <a:off x="548640" y="1874520"/>
            <a:ext cx="11094415" cy="3794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dirty="0">
                <a:solidFill>
                  <a:schemeClr val="tx1"/>
                </a:solidFill>
              </a:rPr>
              <a:t>Insert table</a:t>
            </a:r>
            <a:endParaRPr lang="en-US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548640" y="580644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i="1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Source / note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(dark)">
    <p:bg>
      <p:bgPr>
        <a:solidFill>
          <a:srgbClr val="0A3D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486400"/>
            <a:ext cx="12191695" cy="13716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822960"/>
            <a:ext cx="1072865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Closing message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2057400"/>
            <a:ext cx="7498080" cy="3108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1000"/>
              </a:spcAft>
              <a:buNone/>
              <a:defRPr lang="en-US" sz="1800" dirty="0">
                <a:solidFill>
                  <a:schemeClr val="bg1"/>
                </a:solidFill>
              </a:defRPr>
            </a:lvl1pPr>
          </a:lstStyle>
          <a:p>
            <a:pPr algn="l"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bg1"/>
                </a:solidFill>
              </a:rPr>
              <a:t>Three recommendations to remember</a:t>
            </a: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8503920" y="2057400"/>
            <a:ext cx="2956255" cy="2194560"/>
          </a:xfrm>
          <a:prstGeom prst="roundRect">
            <a:avLst>
              <a:gd name="adj" fmla="val 5000"/>
            </a:avLst>
          </a:prstGeom>
          <a:solidFill>
            <a:srgbClr val="E9C46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8732520" y="2240280"/>
            <a:ext cx="2499055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 we are asking for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9C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ppendix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EAF1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411480"/>
            <a:ext cx="237744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spc="150" kern="0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100" b="1" spc="150" kern="0" dirty="0">
                <a:solidFill>
                  <a:schemeClr val="tx2"/>
                </a:solidFill>
              </a:rPr>
              <a:t>APPENDIX</a:t>
            </a:r>
            <a:endParaRPr lang="en-US" sz="11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Action title: the one message of this slide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UNSW ASOC x Taylor Fry Case Competition 2026</a:t>
            </a:r>
            <a:endParaRPr lang="en-US" sz="1000" dirty="0"/>
          </a:p>
        </p:txBody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548640" y="1874520"/>
            <a:ext cx="11094415" cy="4206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Technical detail for Q&amp;A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9C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31520" y="1554480"/>
            <a:ext cx="8686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31520" y="33375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731520" y="42062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114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3"/>
          <p:cNvSpPr/>
          <p:nvPr>
            <p:ph idx="105" type="body" hasCustomPrompt="1"/>
          </p:nvPr>
        </p:nvSpPr>
        <p:spPr>
          <a:xfrm>
            <a:off x="822960" y="2148840"/>
            <a:ext cx="29361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5" name="Text 3"/>
          <p:cNvSpPr/>
          <p:nvPr>
            <p:ph idx="106" type="body" hasCustomPrompt="1"/>
          </p:nvPr>
        </p:nvSpPr>
        <p:spPr>
          <a:xfrm>
            <a:off x="822960" y="3337560"/>
            <a:ext cx="29361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6" name="Text 4"/>
          <p:cNvSpPr/>
          <p:nvPr>
            <p:ph idx="108" type="body" hasCustomPrompt="1"/>
          </p:nvPr>
        </p:nvSpPr>
        <p:spPr>
          <a:xfrm>
            <a:off x="4627778" y="2148840"/>
            <a:ext cx="29361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7" name="Text 4"/>
          <p:cNvSpPr/>
          <p:nvPr>
            <p:ph idx="109" type="body" hasCustomPrompt="1"/>
          </p:nvPr>
        </p:nvSpPr>
        <p:spPr>
          <a:xfrm>
            <a:off x="4627778" y="3337560"/>
            <a:ext cx="29361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8" name="Text 5"/>
          <p:cNvSpPr/>
          <p:nvPr>
            <p:ph idx="111" type="body" hasCustomPrompt="1"/>
          </p:nvPr>
        </p:nvSpPr>
        <p:spPr>
          <a:xfrm>
            <a:off x="8432597" y="2148840"/>
            <a:ext cx="29361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9" name="Text 5"/>
          <p:cNvSpPr/>
          <p:nvPr>
            <p:ph idx="112" type="body" hasCustomPrompt="1"/>
          </p:nvPr>
        </p:nvSpPr>
        <p:spPr>
          <a:xfrm>
            <a:off x="8432597" y="3337560"/>
            <a:ext cx="29361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10" name="Text 6"/>
          <p:cNvSpPr/>
          <p:nvPr>
            <p:ph idx="114" type="body" hasCustomPrompt="1"/>
          </p:nvPr>
        </p:nvSpPr>
        <p:spPr>
          <a:xfrm>
            <a:off x="822960" y="484632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114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4"/>
          <p:cNvSpPr/>
          <p:nvPr>
            <p:ph idx="106" type="body" hasCustomPrompt="1"/>
          </p:nvPr>
        </p:nvSpPr>
        <p:spPr>
          <a:xfrm>
            <a:off x="1417320" y="2148840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4"/>
          <p:cNvSpPr/>
          <p:nvPr>
            <p:ph idx="107" type="body" hasCustomPrompt="1"/>
          </p:nvPr>
        </p:nvSpPr>
        <p:spPr>
          <a:xfrm>
            <a:off x="822960" y="2834640"/>
            <a:ext cx="481568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endParaRPr lang="en-US" sz="1500" dirty="0"/>
          </a:p>
        </p:txBody>
      </p:sp>
      <p:sp>
        <p:nvSpPr>
          <p:cNvPr id="6" name="Text 6"/>
          <p:cNvSpPr/>
          <p:nvPr>
            <p:ph idx="110" type="body" hasCustomPrompt="1"/>
          </p:nvPr>
        </p:nvSpPr>
        <p:spPr>
          <a:xfrm>
            <a:off x="7147408" y="2148840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7" name="Text 6"/>
          <p:cNvSpPr/>
          <p:nvPr>
            <p:ph idx="111" type="body" hasCustomPrompt="1"/>
          </p:nvPr>
        </p:nvSpPr>
        <p:spPr>
          <a:xfrm>
            <a:off x="6553048" y="2834640"/>
            <a:ext cx="481568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31520" y="214884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2286000" y="205740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2286000" y="2971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9C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114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777240" y="2880360"/>
            <a:ext cx="20763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5" name="Text 5"/>
          <p:cNvSpPr/>
          <p:nvPr>
            <p:ph idx="108" type="body" hasCustomPrompt="1"/>
          </p:nvPr>
        </p:nvSpPr>
        <p:spPr>
          <a:xfrm>
            <a:off x="777240" y="3703320"/>
            <a:ext cx="207637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6" name="Text 9"/>
          <p:cNvSpPr/>
          <p:nvPr>
            <p:ph idx="113" type="body" hasCustomPrompt="1"/>
          </p:nvPr>
        </p:nvSpPr>
        <p:spPr>
          <a:xfrm>
            <a:off x="3630854" y="2880360"/>
            <a:ext cx="20763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7" name="Text 9"/>
          <p:cNvSpPr/>
          <p:nvPr>
            <p:ph idx="114" type="body" hasCustomPrompt="1"/>
          </p:nvPr>
        </p:nvSpPr>
        <p:spPr>
          <a:xfrm>
            <a:off x="3630854" y="3703320"/>
            <a:ext cx="207637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8" name="Text 13"/>
          <p:cNvSpPr/>
          <p:nvPr>
            <p:ph idx="119" type="body" hasCustomPrompt="1"/>
          </p:nvPr>
        </p:nvSpPr>
        <p:spPr>
          <a:xfrm>
            <a:off x="6484468" y="2880360"/>
            <a:ext cx="20763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9" name="Text 13"/>
          <p:cNvSpPr/>
          <p:nvPr>
            <p:ph idx="120" type="body" hasCustomPrompt="1"/>
          </p:nvPr>
        </p:nvSpPr>
        <p:spPr>
          <a:xfrm>
            <a:off x="6484468" y="3703320"/>
            <a:ext cx="207637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10" name="Text 17"/>
          <p:cNvSpPr/>
          <p:nvPr>
            <p:ph idx="125" type="body" hasCustomPrompt="1"/>
          </p:nvPr>
        </p:nvSpPr>
        <p:spPr>
          <a:xfrm>
            <a:off x="9338081" y="2880360"/>
            <a:ext cx="20763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11" name="Text 17"/>
          <p:cNvSpPr/>
          <p:nvPr>
            <p:ph idx="126" type="body" hasCustomPrompt="1"/>
          </p:nvPr>
        </p:nvSpPr>
        <p:spPr>
          <a:xfrm>
            <a:off x="9338081" y="3703320"/>
            <a:ext cx="207637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114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3"/>
          <p:cNvSpPr/>
          <p:nvPr>
            <p:ph idx="107" type="body" hasCustomPrompt="1"/>
          </p:nvPr>
        </p:nvSpPr>
        <p:spPr>
          <a:xfrm>
            <a:off x="8366760" y="2148840"/>
            <a:ext cx="3001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3"/>
          <p:cNvSpPr/>
          <p:nvPr>
            <p:ph idx="108" type="body" hasCustomPrompt="1"/>
          </p:nvPr>
        </p:nvSpPr>
        <p:spPr>
          <a:xfrm>
            <a:off x="8366760" y="3108960"/>
            <a:ext cx="3001975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endParaRPr lang="en-US" sz="1500" dirty="0"/>
          </a:p>
        </p:txBody>
      </p:sp>
      <p:sp>
        <p:nvSpPr>
          <p:cNvPr id="6" name="Text 2"/>
          <p:cNvSpPr/>
          <p:nvPr>
            <p:ph idx="105" type="body" hasCustomPrompt="1"/>
          </p:nvPr>
        </p:nvSpPr>
        <p:spPr>
          <a:xfrm>
            <a:off x="548640" y="580644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8" name="Text 2"/>
          <p:cNvSpPr/>
          <p:nvPr>
            <p:ph idx="104" hasCustomPrompt="1"/>
          </p:nvPr>
        </p:nvSpPr>
        <p:spPr>
          <a:xfrm>
            <a:off x="548640" y="1874520"/>
            <a:ext cx="7223760" cy="38404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114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548640" y="58064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6" name="Text 2"/>
          <p:cNvSpPr/>
          <p:nvPr>
            <p:ph idx="104" hasCustomPrompt="1"/>
          </p:nvPr>
        </p:nvSpPr>
        <p:spPr>
          <a:xfrm>
            <a:off x="548640" y="1874520"/>
            <a:ext cx="11094415" cy="3794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114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3"/>
          <p:cNvSpPr/>
          <p:nvPr>
            <p:ph idx="107" type="body" hasCustomPrompt="1"/>
          </p:nvPr>
        </p:nvSpPr>
        <p:spPr>
          <a:xfrm>
            <a:off x="8366760" y="2148840"/>
            <a:ext cx="3001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3"/>
          <p:cNvSpPr/>
          <p:nvPr>
            <p:ph idx="108" type="body" hasCustomPrompt="1"/>
          </p:nvPr>
        </p:nvSpPr>
        <p:spPr>
          <a:xfrm>
            <a:off x="8366760" y="3108960"/>
            <a:ext cx="3001975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endParaRPr lang="en-US" sz="1500" dirty="0"/>
          </a:p>
        </p:txBody>
      </p:sp>
      <p:sp>
        <p:nvSpPr>
          <p:cNvPr id="6" name="Text 2"/>
          <p:cNvSpPr/>
          <p:nvPr>
            <p:ph idx="105" type="body" hasCustomPrompt="1"/>
          </p:nvPr>
        </p:nvSpPr>
        <p:spPr>
          <a:xfrm>
            <a:off x="548640" y="580644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8" name="Text 2"/>
          <p:cNvSpPr/>
          <p:nvPr>
            <p:ph idx="104" hasCustomPrompt="1"/>
          </p:nvPr>
        </p:nvSpPr>
        <p:spPr>
          <a:xfrm>
            <a:off x="548640" y="1874520"/>
            <a:ext cx="7223760" cy="38404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114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3"/>
          <p:cNvSpPr/>
          <p:nvPr>
            <p:ph idx="105" type="body" hasCustomPrompt="1"/>
          </p:nvPr>
        </p:nvSpPr>
        <p:spPr>
          <a:xfrm>
            <a:off x="822960" y="2148840"/>
            <a:ext cx="29361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5" name="Text 3"/>
          <p:cNvSpPr/>
          <p:nvPr>
            <p:ph idx="106" type="body" hasCustomPrompt="1"/>
          </p:nvPr>
        </p:nvSpPr>
        <p:spPr>
          <a:xfrm>
            <a:off x="822960" y="3337560"/>
            <a:ext cx="29361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6" name="Text 4"/>
          <p:cNvSpPr/>
          <p:nvPr>
            <p:ph idx="108" type="body" hasCustomPrompt="1"/>
          </p:nvPr>
        </p:nvSpPr>
        <p:spPr>
          <a:xfrm>
            <a:off x="4627778" y="2148840"/>
            <a:ext cx="29361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7" name="Text 4"/>
          <p:cNvSpPr/>
          <p:nvPr>
            <p:ph idx="109" type="body" hasCustomPrompt="1"/>
          </p:nvPr>
        </p:nvSpPr>
        <p:spPr>
          <a:xfrm>
            <a:off x="4627778" y="3337560"/>
            <a:ext cx="29361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8" name="Text 5"/>
          <p:cNvSpPr/>
          <p:nvPr>
            <p:ph idx="111" type="body" hasCustomPrompt="1"/>
          </p:nvPr>
        </p:nvSpPr>
        <p:spPr>
          <a:xfrm>
            <a:off x="8432597" y="2148840"/>
            <a:ext cx="29361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9" name="Text 5"/>
          <p:cNvSpPr/>
          <p:nvPr>
            <p:ph idx="112" type="body" hasCustomPrompt="1"/>
          </p:nvPr>
        </p:nvSpPr>
        <p:spPr>
          <a:xfrm>
            <a:off x="8432597" y="3337560"/>
            <a:ext cx="29361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10" name="Text 6"/>
          <p:cNvSpPr/>
          <p:nvPr>
            <p:ph idx="114" type="body" hasCustomPrompt="1"/>
          </p:nvPr>
        </p:nvSpPr>
        <p:spPr>
          <a:xfrm>
            <a:off x="822960" y="484632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114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3"/>
          <p:cNvSpPr/>
          <p:nvPr>
            <p:ph idx="107" type="body" hasCustomPrompt="1"/>
          </p:nvPr>
        </p:nvSpPr>
        <p:spPr>
          <a:xfrm>
            <a:off x="8366760" y="2148840"/>
            <a:ext cx="3001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3"/>
          <p:cNvSpPr/>
          <p:nvPr>
            <p:ph idx="108" type="body" hasCustomPrompt="1"/>
          </p:nvPr>
        </p:nvSpPr>
        <p:spPr>
          <a:xfrm>
            <a:off x="8366760" y="3108960"/>
            <a:ext cx="3001975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endParaRPr lang="en-US" sz="1500" dirty="0"/>
          </a:p>
        </p:txBody>
      </p:sp>
      <p:sp>
        <p:nvSpPr>
          <p:cNvPr id="6" name="Text 2"/>
          <p:cNvSpPr/>
          <p:nvPr>
            <p:ph idx="105" type="body" hasCustomPrompt="1"/>
          </p:nvPr>
        </p:nvSpPr>
        <p:spPr>
          <a:xfrm>
            <a:off x="548640" y="580644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8" name="Text 2"/>
          <p:cNvSpPr/>
          <p:nvPr>
            <p:ph idx="104" hasCustomPrompt="1"/>
          </p:nvPr>
        </p:nvSpPr>
        <p:spPr>
          <a:xfrm>
            <a:off x="548640" y="1874520"/>
            <a:ext cx="7223760" cy="38404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114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3"/>
          <p:cNvSpPr/>
          <p:nvPr>
            <p:ph idx="107" type="body" hasCustomPrompt="1"/>
          </p:nvPr>
        </p:nvSpPr>
        <p:spPr>
          <a:xfrm>
            <a:off x="8366760" y="2148840"/>
            <a:ext cx="3001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3"/>
          <p:cNvSpPr/>
          <p:nvPr>
            <p:ph idx="108" type="body" hasCustomPrompt="1"/>
          </p:nvPr>
        </p:nvSpPr>
        <p:spPr>
          <a:xfrm>
            <a:off x="8366760" y="3108960"/>
            <a:ext cx="3001975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endParaRPr lang="en-US" sz="1500" dirty="0"/>
          </a:p>
        </p:txBody>
      </p:sp>
      <p:sp>
        <p:nvSpPr>
          <p:cNvPr id="6" name="Text 2"/>
          <p:cNvSpPr/>
          <p:nvPr>
            <p:ph idx="105" type="body" hasCustomPrompt="1"/>
          </p:nvPr>
        </p:nvSpPr>
        <p:spPr>
          <a:xfrm>
            <a:off x="548640" y="580644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8" name="Text 2"/>
          <p:cNvSpPr/>
          <p:nvPr>
            <p:ph idx="104" hasCustomPrompt="1"/>
          </p:nvPr>
        </p:nvSpPr>
        <p:spPr>
          <a:xfrm>
            <a:off x="548640" y="1874520"/>
            <a:ext cx="7223760" cy="38404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31520" y="214884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2286000" y="205740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2286000" y="2971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9C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114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548640" y="1874520"/>
            <a:ext cx="1109441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114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5"/>
          <p:cNvSpPr/>
          <p:nvPr>
            <p:ph idx="107" type="body" hasCustomPrompt="1"/>
          </p:nvPr>
        </p:nvSpPr>
        <p:spPr>
          <a:xfrm>
            <a:off x="777240" y="2880360"/>
            <a:ext cx="20763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5" name="Text 5"/>
          <p:cNvSpPr/>
          <p:nvPr>
            <p:ph idx="108" type="body" hasCustomPrompt="1"/>
          </p:nvPr>
        </p:nvSpPr>
        <p:spPr>
          <a:xfrm>
            <a:off x="777240" y="3703320"/>
            <a:ext cx="207637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6" name="Text 9"/>
          <p:cNvSpPr/>
          <p:nvPr>
            <p:ph idx="113" type="body" hasCustomPrompt="1"/>
          </p:nvPr>
        </p:nvSpPr>
        <p:spPr>
          <a:xfrm>
            <a:off x="3630854" y="2880360"/>
            <a:ext cx="20763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7" name="Text 9"/>
          <p:cNvSpPr/>
          <p:nvPr>
            <p:ph idx="114" type="body" hasCustomPrompt="1"/>
          </p:nvPr>
        </p:nvSpPr>
        <p:spPr>
          <a:xfrm>
            <a:off x="3630854" y="3703320"/>
            <a:ext cx="207637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8" name="Text 13"/>
          <p:cNvSpPr/>
          <p:nvPr>
            <p:ph idx="119" type="body" hasCustomPrompt="1"/>
          </p:nvPr>
        </p:nvSpPr>
        <p:spPr>
          <a:xfrm>
            <a:off x="6484468" y="2880360"/>
            <a:ext cx="20763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9" name="Text 13"/>
          <p:cNvSpPr/>
          <p:nvPr>
            <p:ph idx="120" type="body" hasCustomPrompt="1"/>
          </p:nvPr>
        </p:nvSpPr>
        <p:spPr>
          <a:xfrm>
            <a:off x="6484468" y="3703320"/>
            <a:ext cx="207637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10" name="Text 17"/>
          <p:cNvSpPr/>
          <p:nvPr>
            <p:ph idx="125" type="body" hasCustomPrompt="1"/>
          </p:nvPr>
        </p:nvSpPr>
        <p:spPr>
          <a:xfrm>
            <a:off x="9338081" y="2880360"/>
            <a:ext cx="20763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11" name="Text 17"/>
          <p:cNvSpPr/>
          <p:nvPr>
            <p:ph idx="126" type="body" hasCustomPrompt="1"/>
          </p:nvPr>
        </p:nvSpPr>
        <p:spPr>
          <a:xfrm>
            <a:off x="9338081" y="3703320"/>
            <a:ext cx="207637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114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4"/>
          <p:cNvSpPr/>
          <p:nvPr>
            <p:ph idx="106" type="body" hasCustomPrompt="1"/>
          </p:nvPr>
        </p:nvSpPr>
        <p:spPr>
          <a:xfrm>
            <a:off x="1417320" y="2148840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4"/>
          <p:cNvSpPr/>
          <p:nvPr>
            <p:ph idx="107" type="body" hasCustomPrompt="1"/>
          </p:nvPr>
        </p:nvSpPr>
        <p:spPr>
          <a:xfrm>
            <a:off x="822960" y="2834640"/>
            <a:ext cx="481568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endParaRPr lang="en-US" sz="1500" dirty="0"/>
          </a:p>
        </p:txBody>
      </p:sp>
      <p:sp>
        <p:nvSpPr>
          <p:cNvPr id="6" name="Text 6"/>
          <p:cNvSpPr/>
          <p:nvPr>
            <p:ph idx="110" type="body" hasCustomPrompt="1"/>
          </p:nvPr>
        </p:nvSpPr>
        <p:spPr>
          <a:xfrm>
            <a:off x="7147408" y="2148840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7" name="Text 6"/>
          <p:cNvSpPr/>
          <p:nvPr>
            <p:ph idx="111" type="body" hasCustomPrompt="1"/>
          </p:nvPr>
        </p:nvSpPr>
        <p:spPr>
          <a:xfrm>
            <a:off x="6553048" y="2834640"/>
            <a:ext cx="481568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114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548640" y="58064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6" name="Text 2"/>
          <p:cNvSpPr/>
          <p:nvPr>
            <p:ph idx="104" hasCustomPrompt="1"/>
          </p:nvPr>
        </p:nvSpPr>
        <p:spPr>
          <a:xfrm>
            <a:off x="548640" y="1874520"/>
            <a:ext cx="11094415" cy="37947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114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4"/>
          <p:cNvSpPr/>
          <p:nvPr>
            <p:ph idx="106" type="body" hasCustomPrompt="1"/>
          </p:nvPr>
        </p:nvSpPr>
        <p:spPr>
          <a:xfrm>
            <a:off x="1417320" y="2148840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4"/>
          <p:cNvSpPr/>
          <p:nvPr>
            <p:ph idx="107" type="body" hasCustomPrompt="1"/>
          </p:nvPr>
        </p:nvSpPr>
        <p:spPr>
          <a:xfrm>
            <a:off x="822960" y="2834640"/>
            <a:ext cx="481568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endParaRPr lang="en-US" sz="1500" dirty="0"/>
          </a:p>
        </p:txBody>
      </p:sp>
      <p:sp>
        <p:nvSpPr>
          <p:cNvPr id="6" name="Text 6"/>
          <p:cNvSpPr/>
          <p:nvPr>
            <p:ph idx="110" type="body" hasCustomPrompt="1"/>
          </p:nvPr>
        </p:nvSpPr>
        <p:spPr>
          <a:xfrm>
            <a:off x="7147408" y="2148840"/>
            <a:ext cx="422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7" name="Text 6"/>
          <p:cNvSpPr/>
          <p:nvPr>
            <p:ph idx="111" type="body" hasCustomPrompt="1"/>
          </p:nvPr>
        </p:nvSpPr>
        <p:spPr>
          <a:xfrm>
            <a:off x="6553048" y="2834640"/>
            <a:ext cx="4815688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31520" y="822960"/>
            <a:ext cx="10728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31520" y="2057400"/>
            <a:ext cx="74980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endParaRPr lang="en-US" sz="18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8732520" y="2240280"/>
            <a:ext cx="24990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9C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31520" y="214884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2286000" y="205740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2286000" y="2971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9C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114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548640" y="1874520"/>
            <a:ext cx="1109441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114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548640" y="1874520"/>
            <a:ext cx="1109441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114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548640" y="1874520"/>
            <a:ext cx="1109441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114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548640" y="1874520"/>
            <a:ext cx="1109441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114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8686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2"/>
          <p:cNvSpPr/>
          <p:nvPr>
            <p:ph idx="104" type="body" hasCustomPrompt="1"/>
          </p:nvPr>
        </p:nvSpPr>
        <p:spPr>
          <a:xfrm>
            <a:off x="548640" y="1874520"/>
            <a:ext cx="11094415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cean and Sand">
  <a:themeElements>
    <a:clrScheme name="Ocean and Sand">
      <a:dk1>
        <a:srgbClr val="072B45"/>
      </a:dk1>
      <a:lt1>
        <a:srgbClr val="FFFFFF"/>
      </a:lt1>
      <a:dk2>
        <a:srgbClr val="0A3D62"/>
      </a:dk2>
      <a:lt2>
        <a:srgbClr val="EAF1F6"/>
      </a:lt2>
      <a:accent1>
        <a:srgbClr val="0A3D62"/>
      </a:accent1>
      <a:accent2>
        <a:srgbClr val="E9C46A"/>
      </a:accent2>
      <a:accent3>
        <a:srgbClr val="2E7DA6"/>
      </a:accent3>
      <a:accent4>
        <a:srgbClr val="B8902E"/>
      </a:accent4>
      <a:accent5>
        <a:srgbClr val="8FB8D3"/>
      </a:accent5>
      <a:accent6>
        <a:srgbClr val="5B6B7A"/>
      </a:accent6>
      <a:hlink>
        <a:srgbClr val="2E7DA6"/>
      </a:hlink>
      <a:folHlink>
        <a:srgbClr val="5B6B7A"/>
      </a:folHlink>
    </a:clrScheme>
    <a:fontScheme name="Ocean and Sand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Beach safety: forecast and $2M allocation</dc:title>
  <dc:subject>UNSW ASOC x Taylor Fry Case Competition 2026</dc:subject>
  <dc:creator>PptxGenJS</dc:creator>
  <cp:lastModifiedBy>PptxGenJS</cp:lastModifiedBy>
  <cp:revision>1</cp:revision>
  <dcterms:created xsi:type="dcterms:W3CDTF">2026-10-19T15:32:18Z</dcterms:created>
  <dcterms:modified xsi:type="dcterms:W3CDTF">2026-10-19T15:32:18Z</dcterms:modified>
</cp:coreProperties>
</file>
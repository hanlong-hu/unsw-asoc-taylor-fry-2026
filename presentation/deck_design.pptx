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8701972-2da3-a51c-5fff-fe24cb21dae2}">
          <p14:sldIdLst>
            <p14:sldId id="256"/>
            <p14:sldId id="257"/>
            <p14:sldId id="258"/>
          </p14:sldIdLst>
        </p14:section>
        <p14:section name="Task 1: Forecast" id="{f9c55cfe-71ee-de8d-cbf1-2f417961729d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Task 2: Allocation" id="{b72e75f8-2e85-1632-7c51-5a1acfb10625}">
          <p14:sldIdLst>
            <p14:sldId id="267"/>
            <p14:sldId id="268"/>
            <p14:sldId id="269"/>
            <p14:sldId id="270"/>
            <p14:sldId id="271"/>
          </p14:sldIdLst>
        </p14:section>
        <p14:section name="Close" id="{a131e50d-f119-9a11-36d6-8ea5ed572f96}">
          <p14:sldIdLst>
            <p14:sldId id="272"/>
            <p14:sldId id="273"/>
          </p14:sldIdLst>
        </p14:section>
        <p14:section name="Appendix" id="{91aed573-0dec-84b9-0e57-fb857afc6e2b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Executive summary.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The brief.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Task 1 divider.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From raw data to beach-months.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Summer crowds, winter risk.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How the model works.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Model chosen on unseen years.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FY2027 forecast by severity.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Where and when.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What drives severe incidents.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Task 2 divider.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Recommendation: the $2M allocation.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How we chose the allocation.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15: Why this, not the alternatives.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16: Implementation.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17: Assumptions and limitations.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18: Conclusion.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19: Appendix divider.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20: A1 Model specification.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21: A2 Validation detail.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22: A3 Forecast uncertainty.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23: A4 Optimisation formulation.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24: A5 Pricing inputs. Design suggestions: presentation/slide_design_notes.md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dark)">
    <p:bg>
      <p:bgPr>
        <a:solidFill>
          <a:srgbClr val="0F79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6663" y="0"/>
            <a:ext cx="3685032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722376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37560"/>
            <a:ext cx="72237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Subtitle: the recommendation in one line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4206240"/>
            <a:ext cx="7223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Team name · member names · date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(dark)">
    <p:bg>
      <p:bgPr>
        <a:solidFill>
          <a:srgbClr val="0F79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86400"/>
            <a:ext cx="12191695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48840"/>
            <a:ext cx="1188720" cy="1188720"/>
          </a:xfrm>
          <a:prstGeom prst="ellipse">
            <a:avLst/>
          </a:prstGeom>
          <a:solidFill>
            <a:srgbClr val="F4B2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148840"/>
            <a:ext cx="1188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2286000" y="205740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228600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The question this section answers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3657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4B2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spc="150" kern="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Action title: the one message of this slide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UNSW ASOC x Taylor Fry Case Competition 2026</a:t>
            </a:r>
            <a:endParaRPr lang="en-US" sz="1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1874520"/>
            <a:ext cx="11094415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Free canvas: build cards, diagrams or tables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keawa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4B2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spc="150" kern="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Action title: the one message of this slide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UNSW ASOC x Taylor Fry Case Competition 2026</a:t>
            </a:r>
            <a:endParaRPr lang="en-US" sz="1000" dirty="0"/>
          </a:p>
        </p:txBody>
      </p:sp>
      <p:sp>
        <p:nvSpPr>
          <p:cNvPr id="6" name="Text 2"/>
          <p:cNvSpPr/>
          <p:nvPr>
            <p:ph idx="104" hasCustomPrompt="1"/>
          </p:nvPr>
        </p:nvSpPr>
        <p:spPr>
          <a:xfrm>
            <a:off x="548640" y="1874520"/>
            <a:ext cx="722376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dirty="0">
                <a:solidFill>
                  <a:schemeClr val="tx1"/>
                </a:solidFill>
              </a:rPr>
              <a:t>Insert chart (paste or picture)</a:t>
            </a:r>
            <a:endParaRPr lang="en-US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5806440"/>
            <a:ext cx="7223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i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 / note</a:t>
            </a:r>
            <a:endParaRPr lang="en-US" sz="1000" dirty="0"/>
          </a:p>
        </p:txBody>
      </p:sp>
      <p:sp>
        <p:nvSpPr>
          <p:cNvPr id="8" name="Text 2"/>
          <p:cNvSpPr/>
          <p:nvPr/>
        </p:nvSpPr>
        <p:spPr>
          <a:xfrm>
            <a:off x="8092440" y="1874520"/>
            <a:ext cx="3550615" cy="4206240"/>
          </a:xfrm>
          <a:prstGeom prst="roundRect">
            <a:avLst>
              <a:gd name="adj" fmla="val 3090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8366760" y="2148840"/>
            <a:ext cx="300197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8366760" y="3108960"/>
            <a:ext cx="3001975" cy="2697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Two or three short supporting points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sta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4B2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spc="150" kern="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Action title: the one message of this slide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UNSW ASOC x Taylor Fry Case Competition 2026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1874520"/>
            <a:ext cx="3484778" cy="2514600"/>
          </a:xfrm>
          <a:prstGeom prst="roundRect">
            <a:avLst>
              <a:gd name="adj" fmla="val 4364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22960" y="2148840"/>
            <a:ext cx="293613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54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822960" y="3337560"/>
            <a:ext cx="2936138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the number means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4353458" y="1874520"/>
            <a:ext cx="3484778" cy="2514600"/>
          </a:xfrm>
          <a:prstGeom prst="roundRect">
            <a:avLst>
              <a:gd name="adj" fmla="val 4364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4627778" y="2148840"/>
            <a:ext cx="293613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5400" dirty="0"/>
          </a:p>
        </p:txBody>
      </p:sp>
      <p:sp>
        <p:nvSpPr>
          <p:cNvPr id="11" name="Text 4"/>
          <p:cNvSpPr/>
          <p:nvPr>
            <p:ph idx="109" type="body" hasCustomPrompt="1"/>
          </p:nvPr>
        </p:nvSpPr>
        <p:spPr>
          <a:xfrm>
            <a:off x="4627778" y="3337560"/>
            <a:ext cx="2936138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the number means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8158277" y="1874520"/>
            <a:ext cx="3484778" cy="2514600"/>
          </a:xfrm>
          <a:prstGeom prst="roundRect">
            <a:avLst>
              <a:gd name="adj" fmla="val 4364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5"/>
          <p:cNvSpPr/>
          <p:nvPr>
            <p:ph idx="111" type="body" hasCustomPrompt="1"/>
          </p:nvPr>
        </p:nvSpPr>
        <p:spPr>
          <a:xfrm>
            <a:off x="8432597" y="2148840"/>
            <a:ext cx="293613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5400" dirty="0"/>
          </a:p>
        </p:txBody>
      </p:sp>
      <p:sp>
        <p:nvSpPr>
          <p:cNvPr id="14" name="Text 5"/>
          <p:cNvSpPr/>
          <p:nvPr>
            <p:ph idx="112" type="body" hasCustomPrompt="1"/>
          </p:nvPr>
        </p:nvSpPr>
        <p:spPr>
          <a:xfrm>
            <a:off x="8432597" y="3337560"/>
            <a:ext cx="2936138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the number means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548640" y="470916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CE9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6"/>
          <p:cNvSpPr/>
          <p:nvPr>
            <p:ph idx="114" type="body" hasCustomPrompt="1"/>
          </p:nvPr>
        </p:nvSpPr>
        <p:spPr>
          <a:xfrm>
            <a:off x="822960" y="4846320"/>
            <a:ext cx="1054577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 what: what this means for the government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4B2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spc="150" kern="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Action title: the one message of this slide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UNSW ASOC x Taylor Fry Case Competition 2026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1874520"/>
            <a:ext cx="5364328" cy="4206240"/>
          </a:xfrm>
          <a:prstGeom prst="roundRect">
            <a:avLst>
              <a:gd name="adj" fmla="val 2609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F4B2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1417320" y="2148840"/>
            <a:ext cx="4221328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heading</a:t>
            </a:r>
            <a:endParaRPr lang="en-US" sz="2000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822960" y="2834640"/>
            <a:ext cx="4815688" cy="2971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Points for this column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6278728" y="1874520"/>
            <a:ext cx="5364328" cy="4206240"/>
          </a:xfrm>
          <a:prstGeom prst="roundRect">
            <a:avLst>
              <a:gd name="adj" fmla="val 2609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6553048" y="2148840"/>
            <a:ext cx="457200" cy="457200"/>
          </a:xfrm>
          <a:prstGeom prst="ellipse">
            <a:avLst/>
          </a:prstGeom>
          <a:solidFill>
            <a:srgbClr val="F4B2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>
            <p:ph idx="110" type="body" hasCustomPrompt="1"/>
          </p:nvPr>
        </p:nvSpPr>
        <p:spPr>
          <a:xfrm>
            <a:off x="7147408" y="2148840"/>
            <a:ext cx="4221328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heading</a:t>
            </a:r>
            <a:endParaRPr lang="en-US" sz="2000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6553048" y="2834640"/>
            <a:ext cx="4815688" cy="2971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Points for this column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step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4B2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spc="150" kern="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Action title: the one message of this slide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UNSW ASOC x Taylor Fry Case Competition 2026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2286000"/>
            <a:ext cx="2533574" cy="3794760"/>
          </a:xfrm>
          <a:prstGeom prst="roundRect">
            <a:avLst>
              <a:gd name="adj" fmla="val 4331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403947" y="1874520"/>
            <a:ext cx="822960" cy="822960"/>
          </a:xfrm>
          <a:prstGeom prst="ellipse">
            <a:avLst/>
          </a:prstGeom>
          <a:solidFill>
            <a:srgbClr val="F4B223"/>
          </a:solidFill>
          <a:ln w="3810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403947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777240" y="2880360"/>
            <a:ext cx="2076374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heading</a:t>
            </a:r>
            <a:endParaRPr lang="en-US" sz="1800" dirty="0"/>
          </a:p>
        </p:txBody>
      </p:sp>
      <p:sp>
        <p:nvSpPr>
          <p:cNvPr id="10" name="Text 5"/>
          <p:cNvSpPr/>
          <p:nvPr>
            <p:ph idx="108" type="body" hasCustomPrompt="1"/>
          </p:nvPr>
        </p:nvSpPr>
        <p:spPr>
          <a:xfrm>
            <a:off x="777240" y="3703320"/>
            <a:ext cx="2076374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happens in this step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3063926" y="425196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›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3402254" y="2286000"/>
            <a:ext cx="2533574" cy="3794760"/>
          </a:xfrm>
          <a:prstGeom prst="roundRect">
            <a:avLst>
              <a:gd name="adj" fmla="val 4331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4257561" y="1874520"/>
            <a:ext cx="822960" cy="822960"/>
          </a:xfrm>
          <a:prstGeom prst="ellipse">
            <a:avLst/>
          </a:prstGeom>
          <a:solidFill>
            <a:srgbClr val="F4B223"/>
          </a:solidFill>
          <a:ln w="3810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4257561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3630854" y="2880360"/>
            <a:ext cx="2076374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heading</a:t>
            </a:r>
            <a:endParaRPr lang="en-US" sz="1800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3630854" y="3703320"/>
            <a:ext cx="2076374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happens in this step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5917540" y="425196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›</a:t>
            </a:r>
            <a:endParaRPr lang="en-US" sz="3200" dirty="0"/>
          </a:p>
        </p:txBody>
      </p:sp>
      <p:sp>
        <p:nvSpPr>
          <p:cNvPr id="18" name="Text 10"/>
          <p:cNvSpPr/>
          <p:nvPr/>
        </p:nvSpPr>
        <p:spPr>
          <a:xfrm>
            <a:off x="6255868" y="2286000"/>
            <a:ext cx="2533574" cy="3794760"/>
          </a:xfrm>
          <a:prstGeom prst="roundRect">
            <a:avLst>
              <a:gd name="adj" fmla="val 4331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7111175" y="1874520"/>
            <a:ext cx="822960" cy="822960"/>
          </a:xfrm>
          <a:prstGeom prst="ellipse">
            <a:avLst/>
          </a:prstGeom>
          <a:solidFill>
            <a:srgbClr val="F4B223"/>
          </a:solidFill>
          <a:ln w="3810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7111175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3"/>
          <p:cNvSpPr/>
          <p:nvPr>
            <p:ph idx="119" type="body" hasCustomPrompt="1"/>
          </p:nvPr>
        </p:nvSpPr>
        <p:spPr>
          <a:xfrm>
            <a:off x="6484468" y="2880360"/>
            <a:ext cx="2076374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heading</a:t>
            </a:r>
            <a:endParaRPr lang="en-US" sz="1800" dirty="0"/>
          </a:p>
        </p:txBody>
      </p:sp>
      <p:sp>
        <p:nvSpPr>
          <p:cNvPr id="22" name="Text 13"/>
          <p:cNvSpPr/>
          <p:nvPr>
            <p:ph idx="120" type="body" hasCustomPrompt="1"/>
          </p:nvPr>
        </p:nvSpPr>
        <p:spPr>
          <a:xfrm>
            <a:off x="6484468" y="3703320"/>
            <a:ext cx="2076374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happens in this step</a:t>
            </a:r>
            <a:endParaRPr lang="en-US" sz="1400" dirty="0"/>
          </a:p>
        </p:txBody>
      </p:sp>
      <p:sp>
        <p:nvSpPr>
          <p:cNvPr id="23" name="Text 13"/>
          <p:cNvSpPr/>
          <p:nvPr/>
        </p:nvSpPr>
        <p:spPr>
          <a:xfrm>
            <a:off x="8771153" y="425196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›</a:t>
            </a:r>
            <a:endParaRPr lang="en-US" sz="3200" dirty="0"/>
          </a:p>
        </p:txBody>
      </p:sp>
      <p:sp>
        <p:nvSpPr>
          <p:cNvPr id="24" name="Text 14"/>
          <p:cNvSpPr/>
          <p:nvPr/>
        </p:nvSpPr>
        <p:spPr>
          <a:xfrm>
            <a:off x="9109481" y="2286000"/>
            <a:ext cx="2533574" cy="3794760"/>
          </a:xfrm>
          <a:prstGeom prst="roundRect">
            <a:avLst>
              <a:gd name="adj" fmla="val 4331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5"/>
          <p:cNvSpPr/>
          <p:nvPr/>
        </p:nvSpPr>
        <p:spPr>
          <a:xfrm>
            <a:off x="9964788" y="1874520"/>
            <a:ext cx="822960" cy="822960"/>
          </a:xfrm>
          <a:prstGeom prst="ellipse">
            <a:avLst/>
          </a:prstGeom>
          <a:solidFill>
            <a:srgbClr val="F4B223"/>
          </a:solidFill>
          <a:ln w="3810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6"/>
          <p:cNvSpPr/>
          <p:nvPr/>
        </p:nvSpPr>
        <p:spPr>
          <a:xfrm>
            <a:off x="9964788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17"/>
          <p:cNvSpPr/>
          <p:nvPr>
            <p:ph idx="125" type="body" hasCustomPrompt="1"/>
          </p:nvPr>
        </p:nvSpPr>
        <p:spPr>
          <a:xfrm>
            <a:off x="9338081" y="2880360"/>
            <a:ext cx="2076374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heading</a:t>
            </a:r>
            <a:endParaRPr lang="en-US" sz="1800" dirty="0"/>
          </a:p>
        </p:txBody>
      </p:sp>
      <p:sp>
        <p:nvSpPr>
          <p:cNvPr id="28" name="Text 17"/>
          <p:cNvSpPr/>
          <p:nvPr>
            <p:ph idx="126" type="body" hasCustomPrompt="1"/>
          </p:nvPr>
        </p:nvSpPr>
        <p:spPr>
          <a:xfrm>
            <a:off x="9338081" y="3703320"/>
            <a:ext cx="2076374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happens in this step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4B2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spc="150" kern="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Action title: the one message of this slide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UNSW ASOC x Taylor Fry Case Competition 2026</a:t>
            </a:r>
            <a:endParaRPr lang="en-US" sz="1000" dirty="0"/>
          </a:p>
        </p:txBody>
      </p:sp>
      <p:sp>
        <p:nvSpPr>
          <p:cNvPr id="6" name="Text 2"/>
          <p:cNvSpPr/>
          <p:nvPr>
            <p:ph idx="104" hasCustomPrompt="1"/>
          </p:nvPr>
        </p:nvSpPr>
        <p:spPr>
          <a:xfrm>
            <a:off x="548640" y="1874520"/>
            <a:ext cx="11094415" cy="3794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dirty="0">
                <a:solidFill>
                  <a:schemeClr val="tx1"/>
                </a:solidFill>
              </a:rPr>
              <a:t>Insert table</a:t>
            </a:r>
            <a:endParaRPr lang="en-US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i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 /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(dark)">
    <p:bg>
      <p:bgPr>
        <a:solidFill>
          <a:srgbClr val="0F79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86400"/>
            <a:ext cx="12191695" cy="13716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22960"/>
            <a:ext cx="107286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Closing message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2057400"/>
            <a:ext cx="749808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Three recommendations to remember</a:t>
            </a: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8503920" y="2057400"/>
            <a:ext cx="2956255" cy="2194560"/>
          </a:xfrm>
          <a:prstGeom prst="roundRect">
            <a:avLst>
              <a:gd name="adj" fmla="val 5000"/>
            </a:avLst>
          </a:prstGeom>
          <a:solidFill>
            <a:srgbClr val="F4B2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8732520" y="2240280"/>
            <a:ext cx="2499055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we are asking for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3657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endix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spc="150" kern="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APPENDIX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Action title: the one message of this slide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UNSW ASOC x Taylor Fry Case Competition 2026</a:t>
            </a:r>
            <a:endParaRPr lang="en-US" sz="1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1874520"/>
            <a:ext cx="11094415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Technical detail for Q&amp;A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3657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155448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3375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42062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822960" y="2148840"/>
            <a:ext cx="2936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822960" y="333756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ph idx="108" type="body" hasCustomPrompt="1"/>
          </p:nvPr>
        </p:nvSpPr>
        <p:spPr>
          <a:xfrm>
            <a:off x="4627778" y="2148840"/>
            <a:ext cx="2936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7" name="Text 4"/>
          <p:cNvSpPr/>
          <p:nvPr>
            <p:ph idx="109" type="body" hasCustomPrompt="1"/>
          </p:nvPr>
        </p:nvSpPr>
        <p:spPr>
          <a:xfrm>
            <a:off x="4627778" y="333756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8" name="Text 5"/>
          <p:cNvSpPr/>
          <p:nvPr>
            <p:ph idx="111" type="body" hasCustomPrompt="1"/>
          </p:nvPr>
        </p:nvSpPr>
        <p:spPr>
          <a:xfrm>
            <a:off x="8432597" y="2148840"/>
            <a:ext cx="2936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9" name="Text 5"/>
          <p:cNvSpPr/>
          <p:nvPr>
            <p:ph idx="112" type="body" hasCustomPrompt="1"/>
          </p:nvPr>
        </p:nvSpPr>
        <p:spPr>
          <a:xfrm>
            <a:off x="8432597" y="333756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0" name="Text 6"/>
          <p:cNvSpPr/>
          <p:nvPr>
            <p:ph idx="114" type="body" hasCustomPrompt="1"/>
          </p:nvPr>
        </p:nvSpPr>
        <p:spPr>
          <a:xfrm>
            <a:off x="822960" y="484632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1417320" y="214884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4"/>
          <p:cNvSpPr/>
          <p:nvPr>
            <p:ph idx="107" type="body" hasCustomPrompt="1"/>
          </p:nvPr>
        </p:nvSpPr>
        <p:spPr>
          <a:xfrm>
            <a:off x="822960" y="2834640"/>
            <a:ext cx="4815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Text 6"/>
          <p:cNvSpPr/>
          <p:nvPr>
            <p:ph idx="110" type="body" hasCustomPrompt="1"/>
          </p:nvPr>
        </p:nvSpPr>
        <p:spPr>
          <a:xfrm>
            <a:off x="7147408" y="214884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7" name="Text 6"/>
          <p:cNvSpPr/>
          <p:nvPr>
            <p:ph idx="111" type="body" hasCustomPrompt="1"/>
          </p:nvPr>
        </p:nvSpPr>
        <p:spPr>
          <a:xfrm>
            <a:off x="6553048" y="2834640"/>
            <a:ext cx="4815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2286000" y="2057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228600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3657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777240" y="2880360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5" name="Text 5"/>
          <p:cNvSpPr/>
          <p:nvPr>
            <p:ph idx="108" type="body" hasCustomPrompt="1"/>
          </p:nvPr>
        </p:nvSpPr>
        <p:spPr>
          <a:xfrm>
            <a:off x="777240" y="3703320"/>
            <a:ext cx="20763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Text 9"/>
          <p:cNvSpPr/>
          <p:nvPr>
            <p:ph idx="113" type="body" hasCustomPrompt="1"/>
          </p:nvPr>
        </p:nvSpPr>
        <p:spPr>
          <a:xfrm>
            <a:off x="3630854" y="2880360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Text 9"/>
          <p:cNvSpPr/>
          <p:nvPr>
            <p:ph idx="114" type="body" hasCustomPrompt="1"/>
          </p:nvPr>
        </p:nvSpPr>
        <p:spPr>
          <a:xfrm>
            <a:off x="3630854" y="3703320"/>
            <a:ext cx="20763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8" name="Text 13"/>
          <p:cNvSpPr/>
          <p:nvPr>
            <p:ph idx="119" type="body" hasCustomPrompt="1"/>
          </p:nvPr>
        </p:nvSpPr>
        <p:spPr>
          <a:xfrm>
            <a:off x="6484468" y="2880360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9" name="Text 13"/>
          <p:cNvSpPr/>
          <p:nvPr>
            <p:ph idx="120" type="body" hasCustomPrompt="1"/>
          </p:nvPr>
        </p:nvSpPr>
        <p:spPr>
          <a:xfrm>
            <a:off x="6484468" y="3703320"/>
            <a:ext cx="20763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0" name="Text 17"/>
          <p:cNvSpPr/>
          <p:nvPr>
            <p:ph idx="125" type="body" hasCustomPrompt="1"/>
          </p:nvPr>
        </p:nvSpPr>
        <p:spPr>
          <a:xfrm>
            <a:off x="9338081" y="2880360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1" name="Text 17"/>
          <p:cNvSpPr/>
          <p:nvPr>
            <p:ph idx="126" type="body" hasCustomPrompt="1"/>
          </p:nvPr>
        </p:nvSpPr>
        <p:spPr>
          <a:xfrm>
            <a:off x="9338081" y="3703320"/>
            <a:ext cx="20763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3"/>
          <p:cNvSpPr/>
          <p:nvPr>
            <p:ph idx="107" type="body" hasCustomPrompt="1"/>
          </p:nvPr>
        </p:nvSpPr>
        <p:spPr>
          <a:xfrm>
            <a:off x="8366760" y="2148840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3"/>
          <p:cNvSpPr/>
          <p:nvPr>
            <p:ph idx="108" type="body" hasCustomPrompt="1"/>
          </p:nvPr>
        </p:nvSpPr>
        <p:spPr>
          <a:xfrm>
            <a:off x="8366760" y="3108960"/>
            <a:ext cx="300197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548640" y="58064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Text 2"/>
          <p:cNvSpPr/>
          <p:nvPr>
            <p:ph idx="104" hasCustomPrompt="1"/>
          </p:nvPr>
        </p:nvSpPr>
        <p:spPr>
          <a:xfrm>
            <a:off x="548640" y="1874520"/>
            <a:ext cx="7223760" cy="3840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6" name="Text 2"/>
          <p:cNvSpPr/>
          <p:nvPr>
            <p:ph idx="104" hasCustomPrompt="1"/>
          </p:nvPr>
        </p:nvSpPr>
        <p:spPr>
          <a:xfrm>
            <a:off x="548640" y="1874520"/>
            <a:ext cx="11094415" cy="3794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3"/>
          <p:cNvSpPr/>
          <p:nvPr>
            <p:ph idx="107" type="body" hasCustomPrompt="1"/>
          </p:nvPr>
        </p:nvSpPr>
        <p:spPr>
          <a:xfrm>
            <a:off x="8366760" y="2148840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3"/>
          <p:cNvSpPr/>
          <p:nvPr>
            <p:ph idx="108" type="body" hasCustomPrompt="1"/>
          </p:nvPr>
        </p:nvSpPr>
        <p:spPr>
          <a:xfrm>
            <a:off x="8366760" y="3108960"/>
            <a:ext cx="300197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548640" y="58064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Text 2"/>
          <p:cNvSpPr/>
          <p:nvPr>
            <p:ph idx="104" hasCustomPrompt="1"/>
          </p:nvPr>
        </p:nvSpPr>
        <p:spPr>
          <a:xfrm>
            <a:off x="548640" y="1874520"/>
            <a:ext cx="7223760" cy="3840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822960" y="2148840"/>
            <a:ext cx="2936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822960" y="333756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ph idx="108" type="body" hasCustomPrompt="1"/>
          </p:nvPr>
        </p:nvSpPr>
        <p:spPr>
          <a:xfrm>
            <a:off x="4627778" y="2148840"/>
            <a:ext cx="2936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7" name="Text 4"/>
          <p:cNvSpPr/>
          <p:nvPr>
            <p:ph idx="109" type="body" hasCustomPrompt="1"/>
          </p:nvPr>
        </p:nvSpPr>
        <p:spPr>
          <a:xfrm>
            <a:off x="4627778" y="333756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8" name="Text 5"/>
          <p:cNvSpPr/>
          <p:nvPr>
            <p:ph idx="111" type="body" hasCustomPrompt="1"/>
          </p:nvPr>
        </p:nvSpPr>
        <p:spPr>
          <a:xfrm>
            <a:off x="8432597" y="2148840"/>
            <a:ext cx="2936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9" name="Text 5"/>
          <p:cNvSpPr/>
          <p:nvPr>
            <p:ph idx="112" type="body" hasCustomPrompt="1"/>
          </p:nvPr>
        </p:nvSpPr>
        <p:spPr>
          <a:xfrm>
            <a:off x="8432597" y="333756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0" name="Text 6"/>
          <p:cNvSpPr/>
          <p:nvPr>
            <p:ph idx="114" type="body" hasCustomPrompt="1"/>
          </p:nvPr>
        </p:nvSpPr>
        <p:spPr>
          <a:xfrm>
            <a:off x="822960" y="484632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3"/>
          <p:cNvSpPr/>
          <p:nvPr>
            <p:ph idx="107" type="body" hasCustomPrompt="1"/>
          </p:nvPr>
        </p:nvSpPr>
        <p:spPr>
          <a:xfrm>
            <a:off x="8366760" y="2148840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3"/>
          <p:cNvSpPr/>
          <p:nvPr>
            <p:ph idx="108" type="body" hasCustomPrompt="1"/>
          </p:nvPr>
        </p:nvSpPr>
        <p:spPr>
          <a:xfrm>
            <a:off x="8366760" y="3108960"/>
            <a:ext cx="300197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548640" y="58064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Text 2"/>
          <p:cNvSpPr/>
          <p:nvPr>
            <p:ph idx="104" hasCustomPrompt="1"/>
          </p:nvPr>
        </p:nvSpPr>
        <p:spPr>
          <a:xfrm>
            <a:off x="548640" y="1874520"/>
            <a:ext cx="7223760" cy="3840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3"/>
          <p:cNvSpPr/>
          <p:nvPr>
            <p:ph idx="107" type="body" hasCustomPrompt="1"/>
          </p:nvPr>
        </p:nvSpPr>
        <p:spPr>
          <a:xfrm>
            <a:off x="8366760" y="2148840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3"/>
          <p:cNvSpPr/>
          <p:nvPr>
            <p:ph idx="108" type="body" hasCustomPrompt="1"/>
          </p:nvPr>
        </p:nvSpPr>
        <p:spPr>
          <a:xfrm>
            <a:off x="8366760" y="3108960"/>
            <a:ext cx="300197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548640" y="58064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Text 2"/>
          <p:cNvSpPr/>
          <p:nvPr>
            <p:ph idx="104" hasCustomPrompt="1"/>
          </p:nvPr>
        </p:nvSpPr>
        <p:spPr>
          <a:xfrm>
            <a:off x="548640" y="1874520"/>
            <a:ext cx="7223760" cy="3840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2286000" y="2057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228600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3657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1874520"/>
            <a:ext cx="1109441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777240" y="2880360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5" name="Text 5"/>
          <p:cNvSpPr/>
          <p:nvPr>
            <p:ph idx="108" type="body" hasCustomPrompt="1"/>
          </p:nvPr>
        </p:nvSpPr>
        <p:spPr>
          <a:xfrm>
            <a:off x="777240" y="3703320"/>
            <a:ext cx="20763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Text 9"/>
          <p:cNvSpPr/>
          <p:nvPr>
            <p:ph idx="113" type="body" hasCustomPrompt="1"/>
          </p:nvPr>
        </p:nvSpPr>
        <p:spPr>
          <a:xfrm>
            <a:off x="3630854" y="2880360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Text 9"/>
          <p:cNvSpPr/>
          <p:nvPr>
            <p:ph idx="114" type="body" hasCustomPrompt="1"/>
          </p:nvPr>
        </p:nvSpPr>
        <p:spPr>
          <a:xfrm>
            <a:off x="3630854" y="3703320"/>
            <a:ext cx="20763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8" name="Text 13"/>
          <p:cNvSpPr/>
          <p:nvPr>
            <p:ph idx="119" type="body" hasCustomPrompt="1"/>
          </p:nvPr>
        </p:nvSpPr>
        <p:spPr>
          <a:xfrm>
            <a:off x="6484468" y="2880360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9" name="Text 13"/>
          <p:cNvSpPr/>
          <p:nvPr>
            <p:ph idx="120" type="body" hasCustomPrompt="1"/>
          </p:nvPr>
        </p:nvSpPr>
        <p:spPr>
          <a:xfrm>
            <a:off x="6484468" y="3703320"/>
            <a:ext cx="20763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0" name="Text 17"/>
          <p:cNvSpPr/>
          <p:nvPr>
            <p:ph idx="125" type="body" hasCustomPrompt="1"/>
          </p:nvPr>
        </p:nvSpPr>
        <p:spPr>
          <a:xfrm>
            <a:off x="9338081" y="2880360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1" name="Text 17"/>
          <p:cNvSpPr/>
          <p:nvPr>
            <p:ph idx="126" type="body" hasCustomPrompt="1"/>
          </p:nvPr>
        </p:nvSpPr>
        <p:spPr>
          <a:xfrm>
            <a:off x="9338081" y="3703320"/>
            <a:ext cx="20763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1417320" y="214884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4"/>
          <p:cNvSpPr/>
          <p:nvPr>
            <p:ph idx="107" type="body" hasCustomPrompt="1"/>
          </p:nvPr>
        </p:nvSpPr>
        <p:spPr>
          <a:xfrm>
            <a:off x="822960" y="2834640"/>
            <a:ext cx="4815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Text 6"/>
          <p:cNvSpPr/>
          <p:nvPr>
            <p:ph idx="110" type="body" hasCustomPrompt="1"/>
          </p:nvPr>
        </p:nvSpPr>
        <p:spPr>
          <a:xfrm>
            <a:off x="7147408" y="214884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7" name="Text 6"/>
          <p:cNvSpPr/>
          <p:nvPr>
            <p:ph idx="111" type="body" hasCustomPrompt="1"/>
          </p:nvPr>
        </p:nvSpPr>
        <p:spPr>
          <a:xfrm>
            <a:off x="6553048" y="2834640"/>
            <a:ext cx="4815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6" name="Text 2"/>
          <p:cNvSpPr/>
          <p:nvPr>
            <p:ph idx="104" hasCustomPrompt="1"/>
          </p:nvPr>
        </p:nvSpPr>
        <p:spPr>
          <a:xfrm>
            <a:off x="548640" y="1874520"/>
            <a:ext cx="11094415" cy="3794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1417320" y="214884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4"/>
          <p:cNvSpPr/>
          <p:nvPr>
            <p:ph idx="107" type="body" hasCustomPrompt="1"/>
          </p:nvPr>
        </p:nvSpPr>
        <p:spPr>
          <a:xfrm>
            <a:off x="822960" y="2834640"/>
            <a:ext cx="4815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Text 6"/>
          <p:cNvSpPr/>
          <p:nvPr>
            <p:ph idx="110" type="body" hasCustomPrompt="1"/>
          </p:nvPr>
        </p:nvSpPr>
        <p:spPr>
          <a:xfrm>
            <a:off x="7147408" y="214884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7" name="Text 6"/>
          <p:cNvSpPr/>
          <p:nvPr>
            <p:ph idx="111" type="body" hasCustomPrompt="1"/>
          </p:nvPr>
        </p:nvSpPr>
        <p:spPr>
          <a:xfrm>
            <a:off x="6553048" y="2834640"/>
            <a:ext cx="4815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82296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205740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8732520" y="2240280"/>
            <a:ext cx="2499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3657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2286000" y="2057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228600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3657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1874520"/>
            <a:ext cx="1109441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1874520"/>
            <a:ext cx="1109441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1874520"/>
            <a:ext cx="1109441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1874520"/>
            <a:ext cx="1109441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1874520"/>
            <a:ext cx="1109441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ral">
  <a:themeElements>
    <a:clrScheme name="Mural">
      <a:dk1>
        <a:srgbClr val="16151F"/>
      </a:dk1>
      <a:lt1>
        <a:srgbClr val="FFFFFF"/>
      </a:lt1>
      <a:dk2>
        <a:srgbClr val="0F79D5"/>
      </a:dk2>
      <a:lt2>
        <a:srgbClr val="E7F1FB"/>
      </a:lt2>
      <a:accent1>
        <a:srgbClr val="0F79D5"/>
      </a:accent1>
      <a:accent2>
        <a:srgbClr val="F4B223"/>
      </a:accent2>
      <a:accent3>
        <a:srgbClr val="E0251B"/>
      </a:accent3>
      <a:accent4>
        <a:srgbClr val="E2558F"/>
      </a:accent4>
      <a:accent5>
        <a:srgbClr val="2E8B1E"/>
      </a:accent5>
      <a:accent6>
        <a:srgbClr val="5B6B7A"/>
      </a:accent6>
      <a:hlink>
        <a:srgbClr val="0F79D5"/>
      </a:hlink>
      <a:folHlink>
        <a:srgbClr val="E2558F"/>
      </a:folHlink>
    </a:clrScheme>
    <a:fontScheme name="Mur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Beach safety: forecast and $2M allocation</dc:title>
  <dc:subject>UNSW ASOC x Taylor Fry Case Competition 2026</dc:subject>
  <dc:creator>PptxGenJS</dc:creator>
  <cp:lastModifiedBy>PptxGenJS</cp:lastModifiedBy>
  <cp:revision>1</cp:revision>
  <dcterms:created xsi:type="dcterms:W3CDTF">2026-10-19T23:57:26Z</dcterms:created>
  <dcterms:modified xsi:type="dcterms:W3CDTF">2026-10-19T23:57:26Z</dcterms:modified>
</cp:coreProperties>
</file>